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D7CB67-0591-4850-9AB8-E47FE9A3556D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3501EE-40AF-47F0-B152-27E42C75E9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3F918-B28F-4974-831A-157623C877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E2027C-3247-4FF1-80BA-EE87A9F14A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9168EF-2FA5-4E1E-AC02-1399DEDA55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C79D63-5622-4EFE-A28D-D08CF9A2D4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57C93D-68C3-4F9B-A2D4-70F2534DE7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2CD92E-A655-458D-A033-415C7DE922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ream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rown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"/>
          <p:cNvSpPr/>
          <p:nvPr/>
        </p:nvSpPr>
        <p:spPr>
          <a:xfrm>
            <a:off x="813960" y="19659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99" strike="noStrike">
                <a:solidFill>
                  <a:schemeClr val="accent1"/>
                </a:solidFill>
                <a:latin typeface="Calibri"/>
              </a:rPr>
              <a:t>50 YEARS OF AUTHENTIC SOUTH INDIAN RECIPES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13960" y="2377440"/>
            <a:ext cx="56689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chemeClr val="lt2"/>
                </a:solidFill>
                <a:latin typeface="Cambria"/>
                <a:ea typeface="Cambria"/>
              </a:rPr>
              <a:t>Ajji Ruchi</a:t>
            </a:r>
            <a:endParaRPr b="0" lang="en-IN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813960" y="374904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2"/>
                </a:solidFill>
                <a:latin typeface="Calibri"/>
              </a:rPr>
              <a:t>Mastering the Indian spices. Grandmother's kitchen, now packed for yours.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13960" y="4983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1"/>
                </a:solidFill>
                <a:latin typeface="Calibri"/>
              </a:rPr>
              <a:t>Company introduction and product portfolio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6181200" y="1080000"/>
            <a:ext cx="5158800" cy="245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3"/>
                </a:solidFill>
                <a:latin typeface="Cambria"/>
              </a:rPr>
              <a:t>Our story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"/>
          <p:cNvSpPr/>
          <p:nvPr/>
        </p:nvSpPr>
        <p:spPr>
          <a:xfrm>
            <a:off x="813960" y="1828800"/>
            <a:ext cx="1024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Ajji Ruchi is a traditional homemade food business inspired by the recipes and cooking of my grandmother, </a:t>
            </a: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Ajji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. We deliver hygienic, preservative-free and nutritious food that brings back nostalgia and comfort.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Card Trusted for 50 years"/>
          <p:cNvSpPr/>
          <p:nvPr/>
        </p:nvSpPr>
        <p:spPr>
          <a:xfrm>
            <a:off x="813960" y="3611880"/>
            <a:ext cx="3382920" cy="228564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069920" y="3840480"/>
            <a:ext cx="287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Trusted for 50 years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069920" y="457200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A family business now stepping into homemade-style packaged products.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Card Crafted with pure ingredients"/>
          <p:cNvSpPr/>
          <p:nvPr/>
        </p:nvSpPr>
        <p:spPr>
          <a:xfrm>
            <a:off x="4434840" y="3611880"/>
            <a:ext cx="3382920" cy="2285640"/>
          </a:xfrm>
          <a:prstGeom prst="roundRect">
            <a:avLst>
              <a:gd name="adj" fmla="val 48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690800" y="3840480"/>
            <a:ext cx="287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2"/>
                </a:solidFill>
                <a:latin typeface="Calibri"/>
                <a:ea typeface="Calibri"/>
              </a:rPr>
              <a:t>Crafted with pure ingredients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4690800" y="457200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Calibri"/>
              </a:rPr>
              <a:t>Unique, healthy South Indian masala powders from recipes passed down through generations.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Card Made for busy lives"/>
          <p:cNvSpPr/>
          <p:nvPr/>
        </p:nvSpPr>
        <p:spPr>
          <a:xfrm>
            <a:off x="8055720" y="3611880"/>
            <a:ext cx="3382920" cy="228564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8312040" y="3840480"/>
            <a:ext cx="287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Made for busy lives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312040" y="457200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Bridging modern lifestyles and traditional cooking for working professionals, students and families.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1"/>
                </a:solidFill>
                <a:latin typeface="Cambria"/>
              </a:rPr>
              <a:t>Vision, mission and promise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 1"/>
          <p:cNvSpPr/>
          <p:nvPr/>
        </p:nvSpPr>
        <p:spPr>
          <a:xfrm>
            <a:off x="813960" y="1828800"/>
            <a:ext cx="10240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1"/>
                </a:solidFill>
                <a:latin typeface="Calibri"/>
              </a:rPr>
              <a:t>Vision: </a:t>
            </a:r>
            <a:r>
              <a:rPr b="0" lang="en-US" sz="2200" spc="-1" strike="noStrike">
                <a:solidFill>
                  <a:schemeClr val="lt2"/>
                </a:solidFill>
                <a:latin typeface="Calibri"/>
              </a:rPr>
              <a:t>to become a trusted brand for authentic homemade food, preserving traditional recipes while ensuring quality and convenience.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Card Fresh and hygienic"/>
          <p:cNvSpPr/>
          <p:nvPr/>
        </p:nvSpPr>
        <p:spPr>
          <a:xfrm>
            <a:off x="813960" y="3200400"/>
            <a:ext cx="251424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1069920" y="3429000"/>
            <a:ext cx="2002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Fresh and hygienic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069920" y="4160520"/>
            <a:ext cx="2002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Fresh, hygienic and nutritious homemade meals.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Card Regional flavours"/>
          <p:cNvSpPr/>
          <p:nvPr/>
        </p:nvSpPr>
        <p:spPr>
          <a:xfrm>
            <a:off x="3511440" y="3200400"/>
            <a:ext cx="251424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3767400" y="3429000"/>
            <a:ext cx="2002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Regional flavours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3767400" y="4160520"/>
            <a:ext cx="2002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Preserve traditional recipes and regional flavours.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Card Chemical free"/>
          <p:cNvSpPr/>
          <p:nvPr/>
        </p:nvSpPr>
        <p:spPr>
          <a:xfrm>
            <a:off x="6208920" y="3200400"/>
            <a:ext cx="251424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464880" y="3429000"/>
            <a:ext cx="2002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Chemical free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6464880" y="4160520"/>
            <a:ext cx="2002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Quality products with no chemicals.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Card Consistency"/>
          <p:cNvSpPr/>
          <p:nvPr/>
        </p:nvSpPr>
        <p:spPr>
          <a:xfrm>
            <a:off x="8906400" y="3200400"/>
            <a:ext cx="251424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9162360" y="3429000"/>
            <a:ext cx="2002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Consistency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9162360" y="4160520"/>
            <a:ext cx="2002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Customer satisfaction through quality and consistency.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3"/>
                </a:solidFill>
                <a:latin typeface="Cambria"/>
              </a:rPr>
              <a:t>Who we serve and why now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Audience panel"/>
          <p:cNvSpPr/>
          <p:nvPr/>
        </p:nvSpPr>
        <p:spPr>
          <a:xfrm>
            <a:off x="813960" y="1828800"/>
            <a:ext cx="10560960" cy="15084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ill Working professionals"/>
          <p:cNvSpPr/>
          <p:nvPr/>
        </p:nvSpPr>
        <p:spPr>
          <a:xfrm>
            <a:off x="1014840" y="2011680"/>
            <a:ext cx="242280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1014840" y="20116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Working professionals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ill Students"/>
          <p:cNvSpPr/>
          <p:nvPr/>
        </p:nvSpPr>
        <p:spPr>
          <a:xfrm>
            <a:off x="3575160" y="2011680"/>
            <a:ext cx="123408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575160" y="201168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Students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ill Health-conscious individuals"/>
          <p:cNvSpPr/>
          <p:nvPr/>
        </p:nvSpPr>
        <p:spPr>
          <a:xfrm>
            <a:off x="4946760" y="2011680"/>
            <a:ext cx="306288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94676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Health-conscious individuals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ill Families"/>
          <p:cNvSpPr/>
          <p:nvPr/>
        </p:nvSpPr>
        <p:spPr>
          <a:xfrm>
            <a:off x="8147160" y="2011680"/>
            <a:ext cx="123408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8147160" y="201168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Families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ill Bachelors"/>
          <p:cNvSpPr/>
          <p:nvPr/>
        </p:nvSpPr>
        <p:spPr>
          <a:xfrm>
            <a:off x="9518760" y="2011680"/>
            <a:ext cx="132552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9518760" y="201168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Bachelors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ill Retail and wholesale"/>
          <p:cNvSpPr/>
          <p:nvPr/>
        </p:nvSpPr>
        <p:spPr>
          <a:xfrm>
            <a:off x="1014840" y="2606040"/>
            <a:ext cx="233136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1014840" y="26060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Retail and wholesale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ill Export"/>
          <p:cNvSpPr/>
          <p:nvPr/>
        </p:nvSpPr>
        <p:spPr>
          <a:xfrm>
            <a:off x="3483720" y="2606040"/>
            <a:ext cx="1051200" cy="45684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483720" y="260604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Export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Card Healthy food demand"/>
          <p:cNvSpPr/>
          <p:nvPr/>
        </p:nvSpPr>
        <p:spPr>
          <a:xfrm>
            <a:off x="813960" y="3657600"/>
            <a:ext cx="3291480" cy="228564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1069920" y="3886200"/>
            <a:ext cx="277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Healthy food demand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1069920" y="4617720"/>
            <a:ext cx="2779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Growing demand for healthy food as busy lifestyles drive the need for convenience.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ard Shift to homemade"/>
          <p:cNvSpPr/>
          <p:nvPr/>
        </p:nvSpPr>
        <p:spPr>
          <a:xfrm>
            <a:off x="4343400" y="3657600"/>
            <a:ext cx="3291480" cy="22856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4599360" y="3886200"/>
            <a:ext cx="277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2"/>
                </a:solidFill>
                <a:latin typeface="Calibri"/>
                <a:ea typeface="Calibri"/>
              </a:rPr>
              <a:t>Shift to homemade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4599360" y="4617720"/>
            <a:ext cx="2779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Calibri"/>
              </a:rPr>
              <a:t>Consumers are moving to traditional, homemade, preservative-free food.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Card Masalas are growing"/>
          <p:cNvSpPr/>
          <p:nvPr/>
        </p:nvSpPr>
        <p:spPr>
          <a:xfrm>
            <a:off x="7872840" y="3657600"/>
            <a:ext cx="3565800" cy="228564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8129160" y="3886200"/>
            <a:ext cx="305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Masalas are growing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8129160" y="4617720"/>
            <a:ext cx="3053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Ready-made sambar and rasam masalas offer consistent taste, and blended masalas are among the fastest-growing segments.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Flagship image" descr="Special Sambar Powder 200g pouch, front and back"/>
          <p:cNvPicPr/>
          <p:nvPr/>
        </p:nvPicPr>
        <p:blipFill>
          <a:blip r:embed="rId1"/>
          <a:stretch/>
        </p:blipFill>
        <p:spPr>
          <a:xfrm>
            <a:off x="6548040" y="1498680"/>
            <a:ext cx="4822560" cy="3851280"/>
          </a:xfrm>
          <a:prstGeom prst="rect">
            <a:avLst/>
          </a:prstGeom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813960" y="182880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299" strike="noStrike">
                <a:solidFill>
                  <a:schemeClr val="accent1"/>
                </a:solidFill>
                <a:latin typeface="Calibri"/>
              </a:rPr>
              <a:t>FLAGSHIP PRODUCT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813960" y="2240280"/>
            <a:ext cx="56689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chemeClr val="lt2"/>
                </a:solidFill>
                <a:latin typeface="Cambria"/>
                <a:ea typeface="Cambria"/>
              </a:rPr>
              <a:t>Special Sambar Powder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813960" y="4069080"/>
            <a:ext cx="5486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Calibri"/>
              </a:rPr>
              <a:t>Handpicked spices, slow roasted and finely ground for the authentic taste and rich aroma of traditional homemade sambar.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813960" y="539496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1"/>
                </a:solidFill>
                <a:latin typeface="Calibri"/>
              </a:rPr>
              <a:t>Authentic taste · Rich aroma · Perfect blend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1"/>
                </a:solidFill>
                <a:latin typeface="Cambria"/>
              </a:rPr>
              <a:t>The pouch range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ouch Special Sambar Powder"/>
          <p:cNvSpPr/>
          <p:nvPr/>
        </p:nvSpPr>
        <p:spPr>
          <a:xfrm>
            <a:off x="81396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Header Special Sambar Powder"/>
          <p:cNvSpPr/>
          <p:nvPr/>
        </p:nvSpPr>
        <p:spPr>
          <a:xfrm>
            <a:off x="83196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Header square"/>
          <p:cNvSpPr/>
          <p:nvPr/>
        </p:nvSpPr>
        <p:spPr>
          <a:xfrm>
            <a:off x="83196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81396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watch Special Sambar Powder"/>
          <p:cNvSpPr/>
          <p:nvPr/>
        </p:nvSpPr>
        <p:spPr>
          <a:xfrm>
            <a:off x="1431000" y="2286000"/>
            <a:ext cx="402120" cy="402120"/>
          </a:xfrm>
          <a:prstGeom prst="ellipse">
            <a:avLst/>
          </a:prstGeom>
          <a:solidFill>
            <a:srgbClr val="e07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8704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Special Sambar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Footer square"/>
          <p:cNvSpPr/>
          <p:nvPr/>
        </p:nvSpPr>
        <p:spPr>
          <a:xfrm>
            <a:off x="83196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Footer Special Sambar Powder"/>
          <p:cNvSpPr/>
          <p:nvPr/>
        </p:nvSpPr>
        <p:spPr>
          <a:xfrm>
            <a:off x="83196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Footer square top"/>
          <p:cNvSpPr/>
          <p:nvPr/>
        </p:nvSpPr>
        <p:spPr>
          <a:xfrm>
            <a:off x="83196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81396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ouch Chilli Powder"/>
          <p:cNvSpPr/>
          <p:nvPr/>
        </p:nvSpPr>
        <p:spPr>
          <a:xfrm>
            <a:off x="259704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Header Chilli Powder"/>
          <p:cNvSpPr/>
          <p:nvPr/>
        </p:nvSpPr>
        <p:spPr>
          <a:xfrm>
            <a:off x="261504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Header square"/>
          <p:cNvSpPr/>
          <p:nvPr/>
        </p:nvSpPr>
        <p:spPr>
          <a:xfrm>
            <a:off x="261504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259704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watch Chilli Powder"/>
          <p:cNvSpPr/>
          <p:nvPr/>
        </p:nvSpPr>
        <p:spPr>
          <a:xfrm>
            <a:off x="3214080" y="2286000"/>
            <a:ext cx="402120" cy="402120"/>
          </a:xfrm>
          <a:prstGeom prst="ellipse">
            <a:avLst/>
          </a:prstGeom>
          <a:solidFill>
            <a:srgbClr val="b825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267012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Chilli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Footer square"/>
          <p:cNvSpPr/>
          <p:nvPr/>
        </p:nvSpPr>
        <p:spPr>
          <a:xfrm>
            <a:off x="261504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Footer Chilli Powder"/>
          <p:cNvSpPr/>
          <p:nvPr/>
        </p:nvSpPr>
        <p:spPr>
          <a:xfrm>
            <a:off x="261504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Footer square top"/>
          <p:cNvSpPr/>
          <p:nvPr/>
        </p:nvSpPr>
        <p:spPr>
          <a:xfrm>
            <a:off x="261504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259704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ouch Coriander Powder"/>
          <p:cNvSpPr/>
          <p:nvPr/>
        </p:nvSpPr>
        <p:spPr>
          <a:xfrm>
            <a:off x="438012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Header Coriander Powder"/>
          <p:cNvSpPr/>
          <p:nvPr/>
        </p:nvSpPr>
        <p:spPr>
          <a:xfrm>
            <a:off x="439812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Header square"/>
          <p:cNvSpPr/>
          <p:nvPr/>
        </p:nvSpPr>
        <p:spPr>
          <a:xfrm>
            <a:off x="439812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438012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watch Coriander Powder"/>
          <p:cNvSpPr/>
          <p:nvPr/>
        </p:nvSpPr>
        <p:spPr>
          <a:xfrm>
            <a:off x="4997160" y="2286000"/>
            <a:ext cx="402120" cy="402120"/>
          </a:xfrm>
          <a:prstGeom prst="ellipse">
            <a:avLst/>
          </a:prstGeom>
          <a:solidFill>
            <a:srgbClr val="8c7b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445320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Coriander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Footer square"/>
          <p:cNvSpPr/>
          <p:nvPr/>
        </p:nvSpPr>
        <p:spPr>
          <a:xfrm>
            <a:off x="439812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Footer Coriander Powder"/>
          <p:cNvSpPr/>
          <p:nvPr/>
        </p:nvSpPr>
        <p:spPr>
          <a:xfrm>
            <a:off x="439812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Footer square top"/>
          <p:cNvSpPr/>
          <p:nvPr/>
        </p:nvSpPr>
        <p:spPr>
          <a:xfrm>
            <a:off x="439812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438012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ouch Turmeric Powder"/>
          <p:cNvSpPr/>
          <p:nvPr/>
        </p:nvSpPr>
        <p:spPr>
          <a:xfrm>
            <a:off x="616320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Header Turmeric Powder"/>
          <p:cNvSpPr/>
          <p:nvPr/>
        </p:nvSpPr>
        <p:spPr>
          <a:xfrm>
            <a:off x="618120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Header square"/>
          <p:cNvSpPr/>
          <p:nvPr/>
        </p:nvSpPr>
        <p:spPr>
          <a:xfrm>
            <a:off x="618120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4"/>
          <p:cNvSpPr/>
          <p:nvPr/>
        </p:nvSpPr>
        <p:spPr>
          <a:xfrm>
            <a:off x="616320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watch Turmeric Powder"/>
          <p:cNvSpPr/>
          <p:nvPr/>
        </p:nvSpPr>
        <p:spPr>
          <a:xfrm>
            <a:off x="6780240" y="2286000"/>
            <a:ext cx="402120" cy="402120"/>
          </a:xfrm>
          <a:prstGeom prst="ellipse">
            <a:avLst/>
          </a:prstGeom>
          <a:solidFill>
            <a:srgbClr val="e1b3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6"/>
          <p:cNvSpPr/>
          <p:nvPr/>
        </p:nvSpPr>
        <p:spPr>
          <a:xfrm>
            <a:off x="623628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Turmeric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Footer square"/>
          <p:cNvSpPr/>
          <p:nvPr/>
        </p:nvSpPr>
        <p:spPr>
          <a:xfrm>
            <a:off x="618120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ooter Turmeric Powder"/>
          <p:cNvSpPr/>
          <p:nvPr/>
        </p:nvSpPr>
        <p:spPr>
          <a:xfrm>
            <a:off x="618120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Footer square top"/>
          <p:cNvSpPr/>
          <p:nvPr/>
        </p:nvSpPr>
        <p:spPr>
          <a:xfrm>
            <a:off x="618120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0"/>
          <p:cNvSpPr/>
          <p:nvPr/>
        </p:nvSpPr>
        <p:spPr>
          <a:xfrm>
            <a:off x="616320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ouch Palya Powder"/>
          <p:cNvSpPr/>
          <p:nvPr/>
        </p:nvSpPr>
        <p:spPr>
          <a:xfrm>
            <a:off x="794628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Header Palya Powder"/>
          <p:cNvSpPr/>
          <p:nvPr/>
        </p:nvSpPr>
        <p:spPr>
          <a:xfrm>
            <a:off x="796428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Header square"/>
          <p:cNvSpPr/>
          <p:nvPr/>
        </p:nvSpPr>
        <p:spPr>
          <a:xfrm>
            <a:off x="796428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4"/>
          <p:cNvSpPr/>
          <p:nvPr/>
        </p:nvSpPr>
        <p:spPr>
          <a:xfrm>
            <a:off x="794628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watch Palya Powder"/>
          <p:cNvSpPr/>
          <p:nvPr/>
        </p:nvSpPr>
        <p:spPr>
          <a:xfrm>
            <a:off x="8563320" y="2286000"/>
            <a:ext cx="402120" cy="402120"/>
          </a:xfrm>
          <a:prstGeom prst="ellipse">
            <a:avLst/>
          </a:prstGeom>
          <a:solidFill>
            <a:srgbClr val="4f8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6"/>
          <p:cNvSpPr/>
          <p:nvPr/>
        </p:nvSpPr>
        <p:spPr>
          <a:xfrm>
            <a:off x="801936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Palya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ooter square"/>
          <p:cNvSpPr/>
          <p:nvPr/>
        </p:nvSpPr>
        <p:spPr>
          <a:xfrm>
            <a:off x="796428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Footer Palya Powder"/>
          <p:cNvSpPr/>
          <p:nvPr/>
        </p:nvSpPr>
        <p:spPr>
          <a:xfrm>
            <a:off x="796428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Footer square top"/>
          <p:cNvSpPr/>
          <p:nvPr/>
        </p:nvSpPr>
        <p:spPr>
          <a:xfrm>
            <a:off x="796428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0"/>
          <p:cNvSpPr/>
          <p:nvPr/>
        </p:nvSpPr>
        <p:spPr>
          <a:xfrm>
            <a:off x="794628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ouch Rasam Powder"/>
          <p:cNvSpPr/>
          <p:nvPr/>
        </p:nvSpPr>
        <p:spPr>
          <a:xfrm>
            <a:off x="9729360" y="17830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Header Rasam Powder"/>
          <p:cNvSpPr/>
          <p:nvPr/>
        </p:nvSpPr>
        <p:spPr>
          <a:xfrm>
            <a:off x="9747360" y="18014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Header square"/>
          <p:cNvSpPr/>
          <p:nvPr/>
        </p:nvSpPr>
        <p:spPr>
          <a:xfrm>
            <a:off x="9747360" y="20116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54"/>
          <p:cNvSpPr/>
          <p:nvPr/>
        </p:nvSpPr>
        <p:spPr>
          <a:xfrm>
            <a:off x="9729360" y="18014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watch Rasam Powder"/>
          <p:cNvSpPr/>
          <p:nvPr/>
        </p:nvSpPr>
        <p:spPr>
          <a:xfrm>
            <a:off x="10346400" y="2286000"/>
            <a:ext cx="402120" cy="402120"/>
          </a:xfrm>
          <a:prstGeom prst="ellipse">
            <a:avLst/>
          </a:prstGeom>
          <a:solidFill>
            <a:srgbClr val="8e2a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56"/>
          <p:cNvSpPr/>
          <p:nvPr/>
        </p:nvSpPr>
        <p:spPr>
          <a:xfrm>
            <a:off x="9802440" y="27158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Rasam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Footer square"/>
          <p:cNvSpPr/>
          <p:nvPr/>
        </p:nvSpPr>
        <p:spPr>
          <a:xfrm>
            <a:off x="9747360" y="32734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ooter Rasam Powder"/>
          <p:cNvSpPr/>
          <p:nvPr/>
        </p:nvSpPr>
        <p:spPr>
          <a:xfrm>
            <a:off x="9747360" y="32551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Footer square top"/>
          <p:cNvSpPr/>
          <p:nvPr/>
        </p:nvSpPr>
        <p:spPr>
          <a:xfrm>
            <a:off x="9747360" y="32551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60"/>
          <p:cNvSpPr/>
          <p:nvPr/>
        </p:nvSpPr>
        <p:spPr>
          <a:xfrm>
            <a:off x="9729360" y="32551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ouch Vangi Bath Powder"/>
          <p:cNvSpPr/>
          <p:nvPr/>
        </p:nvSpPr>
        <p:spPr>
          <a:xfrm>
            <a:off x="81396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Header Vangi Bath Powder"/>
          <p:cNvSpPr/>
          <p:nvPr/>
        </p:nvSpPr>
        <p:spPr>
          <a:xfrm>
            <a:off x="831960" y="38588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Header square"/>
          <p:cNvSpPr/>
          <p:nvPr/>
        </p:nvSpPr>
        <p:spPr>
          <a:xfrm>
            <a:off x="831960" y="40690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64"/>
          <p:cNvSpPr/>
          <p:nvPr/>
        </p:nvSpPr>
        <p:spPr>
          <a:xfrm>
            <a:off x="813960" y="38588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watch Vangi Bath Powder"/>
          <p:cNvSpPr/>
          <p:nvPr/>
        </p:nvSpPr>
        <p:spPr>
          <a:xfrm>
            <a:off x="1431000" y="4343400"/>
            <a:ext cx="402120" cy="402120"/>
          </a:xfrm>
          <a:prstGeom prst="ellipse">
            <a:avLst/>
          </a:prstGeom>
          <a:solidFill>
            <a:srgbClr val="6b4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6"/>
          <p:cNvSpPr/>
          <p:nvPr/>
        </p:nvSpPr>
        <p:spPr>
          <a:xfrm>
            <a:off x="887040" y="47732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Vangi Bath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Footer square"/>
          <p:cNvSpPr/>
          <p:nvPr/>
        </p:nvSpPr>
        <p:spPr>
          <a:xfrm>
            <a:off x="831960" y="53308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Footer Vangi Bath Powder"/>
          <p:cNvSpPr/>
          <p:nvPr/>
        </p:nvSpPr>
        <p:spPr>
          <a:xfrm>
            <a:off x="831960" y="53125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Footer square top"/>
          <p:cNvSpPr/>
          <p:nvPr/>
        </p:nvSpPr>
        <p:spPr>
          <a:xfrm>
            <a:off x="831960" y="53125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70"/>
          <p:cNvSpPr/>
          <p:nvPr/>
        </p:nvSpPr>
        <p:spPr>
          <a:xfrm>
            <a:off x="813960" y="53125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ouch Bisi Bele Bath Powder"/>
          <p:cNvSpPr/>
          <p:nvPr/>
        </p:nvSpPr>
        <p:spPr>
          <a:xfrm>
            <a:off x="259704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Header Bisi Bele Bath Powder"/>
          <p:cNvSpPr/>
          <p:nvPr/>
        </p:nvSpPr>
        <p:spPr>
          <a:xfrm>
            <a:off x="2615040" y="38588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Header square"/>
          <p:cNvSpPr/>
          <p:nvPr/>
        </p:nvSpPr>
        <p:spPr>
          <a:xfrm>
            <a:off x="2615040" y="40690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74"/>
          <p:cNvSpPr/>
          <p:nvPr/>
        </p:nvSpPr>
        <p:spPr>
          <a:xfrm>
            <a:off x="2597040" y="38588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watch Bisi Bele Bath Powder"/>
          <p:cNvSpPr/>
          <p:nvPr/>
        </p:nvSpPr>
        <p:spPr>
          <a:xfrm>
            <a:off x="3214080" y="4343400"/>
            <a:ext cx="402120" cy="402120"/>
          </a:xfrm>
          <a:prstGeom prst="ellipse">
            <a:avLst/>
          </a:prstGeom>
          <a:solidFill>
            <a:srgbClr val="c06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76"/>
          <p:cNvSpPr/>
          <p:nvPr/>
        </p:nvSpPr>
        <p:spPr>
          <a:xfrm>
            <a:off x="2670120" y="47732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Bisi Bele Bath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ooter square"/>
          <p:cNvSpPr/>
          <p:nvPr/>
        </p:nvSpPr>
        <p:spPr>
          <a:xfrm>
            <a:off x="2615040" y="53308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ooter Bisi Bele Bath Powder"/>
          <p:cNvSpPr/>
          <p:nvPr/>
        </p:nvSpPr>
        <p:spPr>
          <a:xfrm>
            <a:off x="2615040" y="53125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Footer square top"/>
          <p:cNvSpPr/>
          <p:nvPr/>
        </p:nvSpPr>
        <p:spPr>
          <a:xfrm>
            <a:off x="2615040" y="53125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80"/>
          <p:cNvSpPr/>
          <p:nvPr/>
        </p:nvSpPr>
        <p:spPr>
          <a:xfrm>
            <a:off x="2597040" y="53125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ouch Tomato Bath Powder"/>
          <p:cNvSpPr/>
          <p:nvPr/>
        </p:nvSpPr>
        <p:spPr>
          <a:xfrm>
            <a:off x="438012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Header Tomato Bath Powder"/>
          <p:cNvSpPr/>
          <p:nvPr/>
        </p:nvSpPr>
        <p:spPr>
          <a:xfrm>
            <a:off x="4398120" y="38588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Header square"/>
          <p:cNvSpPr/>
          <p:nvPr/>
        </p:nvSpPr>
        <p:spPr>
          <a:xfrm>
            <a:off x="4398120" y="40690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84"/>
          <p:cNvSpPr/>
          <p:nvPr/>
        </p:nvSpPr>
        <p:spPr>
          <a:xfrm>
            <a:off x="4380120" y="38588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watch Tomato Bath Powder"/>
          <p:cNvSpPr/>
          <p:nvPr/>
        </p:nvSpPr>
        <p:spPr>
          <a:xfrm>
            <a:off x="4997160" y="4343400"/>
            <a:ext cx="402120" cy="402120"/>
          </a:xfrm>
          <a:prstGeom prst="ellipse">
            <a:avLst/>
          </a:prstGeom>
          <a:solidFill>
            <a:srgbClr val="d4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86"/>
          <p:cNvSpPr/>
          <p:nvPr/>
        </p:nvSpPr>
        <p:spPr>
          <a:xfrm>
            <a:off x="4453200" y="47732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Tomato Bath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Footer square"/>
          <p:cNvSpPr/>
          <p:nvPr/>
        </p:nvSpPr>
        <p:spPr>
          <a:xfrm>
            <a:off x="4398120" y="53308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Footer Tomato Bath Powder"/>
          <p:cNvSpPr/>
          <p:nvPr/>
        </p:nvSpPr>
        <p:spPr>
          <a:xfrm>
            <a:off x="4398120" y="53125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Footer square top"/>
          <p:cNvSpPr/>
          <p:nvPr/>
        </p:nvSpPr>
        <p:spPr>
          <a:xfrm>
            <a:off x="4398120" y="53125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90"/>
          <p:cNvSpPr/>
          <p:nvPr/>
        </p:nvSpPr>
        <p:spPr>
          <a:xfrm>
            <a:off x="4380120" y="53125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ouch Puliyogare Powder"/>
          <p:cNvSpPr/>
          <p:nvPr/>
        </p:nvSpPr>
        <p:spPr>
          <a:xfrm>
            <a:off x="616320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Header Puliyogare Powder"/>
          <p:cNvSpPr/>
          <p:nvPr/>
        </p:nvSpPr>
        <p:spPr>
          <a:xfrm>
            <a:off x="6181200" y="38588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Header square"/>
          <p:cNvSpPr/>
          <p:nvPr/>
        </p:nvSpPr>
        <p:spPr>
          <a:xfrm>
            <a:off x="6181200" y="40690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4"/>
          <p:cNvSpPr/>
          <p:nvPr/>
        </p:nvSpPr>
        <p:spPr>
          <a:xfrm>
            <a:off x="6163200" y="38588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watch Puliyogare Powder"/>
          <p:cNvSpPr/>
          <p:nvPr/>
        </p:nvSpPr>
        <p:spPr>
          <a:xfrm>
            <a:off x="6780240" y="4343400"/>
            <a:ext cx="402120" cy="402120"/>
          </a:xfrm>
          <a:prstGeom prst="ellipse">
            <a:avLst/>
          </a:prstGeom>
          <a:solidFill>
            <a:srgbClr val="7a52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6"/>
          <p:cNvSpPr/>
          <p:nvPr/>
        </p:nvSpPr>
        <p:spPr>
          <a:xfrm>
            <a:off x="6236280" y="47732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Puliyogare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Footer square"/>
          <p:cNvSpPr/>
          <p:nvPr/>
        </p:nvSpPr>
        <p:spPr>
          <a:xfrm>
            <a:off x="6181200" y="53308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Footer Puliyogare Powder"/>
          <p:cNvSpPr/>
          <p:nvPr/>
        </p:nvSpPr>
        <p:spPr>
          <a:xfrm>
            <a:off x="6181200" y="53125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Footer square top"/>
          <p:cNvSpPr/>
          <p:nvPr/>
        </p:nvSpPr>
        <p:spPr>
          <a:xfrm>
            <a:off x="6181200" y="53125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00"/>
          <p:cNvSpPr/>
          <p:nvPr/>
        </p:nvSpPr>
        <p:spPr>
          <a:xfrm>
            <a:off x="6163200" y="53125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ouch Garam Masala Powder"/>
          <p:cNvSpPr/>
          <p:nvPr/>
        </p:nvSpPr>
        <p:spPr>
          <a:xfrm>
            <a:off x="794628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bg2"/>
          </a:solidFill>
          <a:ln w="19050">
            <a:solidFill>
              <a:srgbClr val="e2b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Header Garam Masala Powder"/>
          <p:cNvSpPr/>
          <p:nvPr/>
        </p:nvSpPr>
        <p:spPr>
          <a:xfrm>
            <a:off x="7964280" y="385884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Header square"/>
          <p:cNvSpPr/>
          <p:nvPr/>
        </p:nvSpPr>
        <p:spPr>
          <a:xfrm>
            <a:off x="7964280" y="4069080"/>
            <a:ext cx="1599840" cy="173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04"/>
          <p:cNvSpPr/>
          <p:nvPr/>
        </p:nvSpPr>
        <p:spPr>
          <a:xfrm>
            <a:off x="7946280" y="385884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2"/>
                </a:solidFill>
                <a:latin typeface="Calibri"/>
              </a:rPr>
              <a:t>AJJI RUCHI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watch Garam Masala Powder"/>
          <p:cNvSpPr/>
          <p:nvPr/>
        </p:nvSpPr>
        <p:spPr>
          <a:xfrm>
            <a:off x="8563320" y="4343400"/>
            <a:ext cx="402120" cy="402120"/>
          </a:xfrm>
          <a:prstGeom prst="ellipse">
            <a:avLst/>
          </a:prstGeom>
          <a:solidFill>
            <a:srgbClr val="5a39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06"/>
          <p:cNvSpPr/>
          <p:nvPr/>
        </p:nvSpPr>
        <p:spPr>
          <a:xfrm>
            <a:off x="8019360" y="4773240"/>
            <a:ext cx="149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mbria"/>
                <a:ea typeface="Cambria"/>
              </a:rPr>
              <a:t>Garam Masala Powder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Footer square"/>
          <p:cNvSpPr/>
          <p:nvPr/>
        </p:nvSpPr>
        <p:spPr>
          <a:xfrm>
            <a:off x="7964280" y="5330880"/>
            <a:ext cx="1599840" cy="219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ooter Garam Masala Powder"/>
          <p:cNvSpPr/>
          <p:nvPr/>
        </p:nvSpPr>
        <p:spPr>
          <a:xfrm>
            <a:off x="7964280" y="5312520"/>
            <a:ext cx="1599840" cy="38376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Footer square top"/>
          <p:cNvSpPr/>
          <p:nvPr/>
        </p:nvSpPr>
        <p:spPr>
          <a:xfrm>
            <a:off x="7964280" y="5312520"/>
            <a:ext cx="1599840" cy="182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10"/>
          <p:cNvSpPr/>
          <p:nvPr/>
        </p:nvSpPr>
        <p:spPr>
          <a:xfrm>
            <a:off x="7946280" y="5312520"/>
            <a:ext cx="163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Pure and natural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More card"/>
          <p:cNvSpPr/>
          <p:nvPr/>
        </p:nvSpPr>
        <p:spPr>
          <a:xfrm>
            <a:off x="9729360" y="3840480"/>
            <a:ext cx="1636560" cy="1874160"/>
          </a:xfrm>
          <a:prstGeom prst="roundRect">
            <a:avLst>
              <a:gd name="adj" fmla="val 6704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12"/>
          <p:cNvSpPr/>
          <p:nvPr/>
        </p:nvSpPr>
        <p:spPr>
          <a:xfrm>
            <a:off x="9820800" y="3840480"/>
            <a:ext cx="145368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accent3"/>
                </a:solidFill>
                <a:latin typeface="Calibri"/>
              </a:rPr>
              <a:t>+ 19 more mixes and masalas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13960" y="731520"/>
            <a:ext cx="105152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3"/>
                </a:solidFill>
                <a:latin typeface="Cambria"/>
              </a:rPr>
              <a:t>Growth plan</a:t>
            </a:r>
            <a:endParaRPr b="0" lang="en-IN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Plan Expand product menu"/>
          <p:cNvSpPr/>
          <p:nvPr/>
        </p:nvSpPr>
        <p:spPr>
          <a:xfrm>
            <a:off x="813960" y="182880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042560" y="18288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Expand product menu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n Partner with apps"/>
          <p:cNvSpPr/>
          <p:nvPr/>
        </p:nvSpPr>
        <p:spPr>
          <a:xfrm>
            <a:off x="4434840" y="182880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663440" y="18288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Partner with apps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n Launch packaged products"/>
          <p:cNvSpPr/>
          <p:nvPr/>
        </p:nvSpPr>
        <p:spPr>
          <a:xfrm>
            <a:off x="8055720" y="182880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8284320" y="18288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Launch packaged products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n Open outlets"/>
          <p:cNvSpPr/>
          <p:nvPr/>
        </p:nvSpPr>
        <p:spPr>
          <a:xfrm>
            <a:off x="813960" y="260604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1042560" y="26060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Open outlets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n Franchise stalls"/>
          <p:cNvSpPr/>
          <p:nvPr/>
        </p:nvSpPr>
        <p:spPr>
          <a:xfrm>
            <a:off x="4434840" y="260604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4663440" y="26060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Franchise stalls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n Export traditional foods"/>
          <p:cNvSpPr/>
          <p:nvPr/>
        </p:nvSpPr>
        <p:spPr>
          <a:xfrm>
            <a:off x="8055720" y="2606040"/>
            <a:ext cx="3382920" cy="6397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8284320" y="26060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accent3"/>
                </a:solidFill>
                <a:latin typeface="Calibri"/>
              </a:rPr>
              <a:t>Export traditional foods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venue card"/>
          <p:cNvSpPr/>
          <p:nvPr/>
        </p:nvSpPr>
        <p:spPr>
          <a:xfrm>
            <a:off x="813960" y="3611880"/>
            <a:ext cx="5166000" cy="15541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1069920" y="3794760"/>
            <a:ext cx="465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1069920" y="4297680"/>
            <a:ext cx="4654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Subscriptions, online orders and bulk orders with competitive pricing.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ourcing card"/>
          <p:cNvSpPr/>
          <p:nvPr/>
        </p:nvSpPr>
        <p:spPr>
          <a:xfrm>
            <a:off x="6217920" y="3611880"/>
            <a:ext cx="5166000" cy="155412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6473880" y="3794760"/>
            <a:ext cx="465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2"/>
                </a:solidFill>
                <a:latin typeface="Calibri"/>
              </a:rPr>
              <a:t>Also sourcing and trading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6473880" y="4297680"/>
            <a:ext cx="4654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Calibri"/>
              </a:rPr>
              <a:t>Rice, arecanut, pepper and coffee.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813960" y="55321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accent3"/>
                </a:solidFill>
                <a:latin typeface="Calibri"/>
              </a:rPr>
              <a:t>Authentic grandmother-style flavours for modern kitchens.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jji Ruchi">
  <a:themeElements>
    <a:clrScheme name="Ajji Ruchi">
      <a:dk1>
        <a:srgbClr val="3a2a20"/>
      </a:dk1>
      <a:lt1>
        <a:srgbClr val="ffffff"/>
      </a:lt1>
      <a:dk2>
        <a:srgbClr val="1f5c38"/>
      </a:dk2>
      <a:lt2>
        <a:srgbClr val="f3eadd"/>
      </a:lt2>
      <a:accent1>
        <a:srgbClr val="e2be6b"/>
      </a:accent1>
      <a:accent2>
        <a:srgbClr val="a3262b"/>
      </a:accent2>
      <a:accent3>
        <a:srgbClr val="1f5c38"/>
      </a:accent3>
      <a:accent4>
        <a:srgbClr val="36281f"/>
      </a:accent4>
      <a:accent5>
        <a:srgbClr val="8b8b3a"/>
      </a:accent5>
      <a:accent6>
        <a:srgbClr val="c26a2e"/>
      </a:accent6>
      <a:hlink>
        <a:srgbClr val="1f5c38"/>
      </a:hlink>
      <a:folHlink>
        <a:srgbClr val="a3262b"/>
      </a:folHlink>
    </a:clrScheme>
    <a:fontScheme name="Ajji Ruchi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jji Ruchi">
  <a:themeElements>
    <a:clrScheme name="Ajji Ruchi">
      <a:dk1>
        <a:srgbClr val="3a2a20"/>
      </a:dk1>
      <a:lt1>
        <a:srgbClr val="ffffff"/>
      </a:lt1>
      <a:dk2>
        <a:srgbClr val="1f5c38"/>
      </a:dk2>
      <a:lt2>
        <a:srgbClr val="f3eadd"/>
      </a:lt2>
      <a:accent1>
        <a:srgbClr val="e2be6b"/>
      </a:accent1>
      <a:accent2>
        <a:srgbClr val="a3262b"/>
      </a:accent2>
      <a:accent3>
        <a:srgbClr val="1f5c38"/>
      </a:accent3>
      <a:accent4>
        <a:srgbClr val="36281f"/>
      </a:accent4>
      <a:accent5>
        <a:srgbClr val="8b8b3a"/>
      </a:accent5>
      <a:accent6>
        <a:srgbClr val="c26a2e"/>
      </a:accent6>
      <a:hlink>
        <a:srgbClr val="1f5c38"/>
      </a:hlink>
      <a:folHlink>
        <a:srgbClr val="a3262b"/>
      </a:folHlink>
    </a:clrScheme>
    <a:fontScheme name="Ajji Ruchi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jji Ruchi">
  <a:themeElements>
    <a:clrScheme name="Ajji Ruchi">
      <a:dk1>
        <a:srgbClr val="3a2a20"/>
      </a:dk1>
      <a:lt1>
        <a:srgbClr val="ffffff"/>
      </a:lt1>
      <a:dk2>
        <a:srgbClr val="1f5c38"/>
      </a:dk2>
      <a:lt2>
        <a:srgbClr val="f3eadd"/>
      </a:lt2>
      <a:accent1>
        <a:srgbClr val="e2be6b"/>
      </a:accent1>
      <a:accent2>
        <a:srgbClr val="a3262b"/>
      </a:accent2>
      <a:accent3>
        <a:srgbClr val="1f5c38"/>
      </a:accent3>
      <a:accent4>
        <a:srgbClr val="36281f"/>
      </a:accent4>
      <a:accent5>
        <a:srgbClr val="8b8b3a"/>
      </a:accent5>
      <a:accent6>
        <a:srgbClr val="c26a2e"/>
      </a:accent6>
      <a:hlink>
        <a:srgbClr val="1f5c38"/>
      </a:hlink>
      <a:folHlink>
        <a:srgbClr val="a3262b"/>
      </a:folHlink>
    </a:clrScheme>
    <a:fontScheme name="Ajji Ruchi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jji Ruchi">
  <a:themeElements>
    <a:clrScheme name="Ajji Ruchi">
      <a:dk1>
        <a:srgbClr val="3a2a20"/>
      </a:dk1>
      <a:lt1>
        <a:srgbClr val="ffffff"/>
      </a:lt1>
      <a:dk2>
        <a:srgbClr val="1f5c38"/>
      </a:dk2>
      <a:lt2>
        <a:srgbClr val="f3eadd"/>
      </a:lt2>
      <a:accent1>
        <a:srgbClr val="e2be6b"/>
      </a:accent1>
      <a:accent2>
        <a:srgbClr val="a3262b"/>
      </a:accent2>
      <a:accent3>
        <a:srgbClr val="1f5c38"/>
      </a:accent3>
      <a:accent4>
        <a:srgbClr val="36281f"/>
      </a:accent4>
      <a:accent5>
        <a:srgbClr val="8b8b3a"/>
      </a:accent5>
      <a:accent6>
        <a:srgbClr val="c26a2e"/>
      </a:accent6>
      <a:hlink>
        <a:srgbClr val="1f5c38"/>
      </a:hlink>
      <a:folHlink>
        <a:srgbClr val="a3262b"/>
      </a:folHlink>
    </a:clrScheme>
    <a:fontScheme name="Ajji Ruchi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jji Ruchi">
  <a:themeElements>
    <a:clrScheme name="Ajji Ruchi">
      <a:dk1>
        <a:srgbClr val="3a2a20"/>
      </a:dk1>
      <a:lt1>
        <a:srgbClr val="ffffff"/>
      </a:lt1>
      <a:dk2>
        <a:srgbClr val="1f5c38"/>
      </a:dk2>
      <a:lt2>
        <a:srgbClr val="f3eadd"/>
      </a:lt2>
      <a:accent1>
        <a:srgbClr val="e2be6b"/>
      </a:accent1>
      <a:accent2>
        <a:srgbClr val="a3262b"/>
      </a:accent2>
      <a:accent3>
        <a:srgbClr val="1f5c38"/>
      </a:accent3>
      <a:accent4>
        <a:srgbClr val="36281f"/>
      </a:accent4>
      <a:accent5>
        <a:srgbClr val="8b8b3a"/>
      </a:accent5>
      <a:accent6>
        <a:srgbClr val="c26a2e"/>
      </a:accent6>
      <a:hlink>
        <a:srgbClr val="1f5c38"/>
      </a:hlink>
      <a:folHlink>
        <a:srgbClr val="a3262b"/>
      </a:folHlink>
    </a:clrScheme>
    <a:fontScheme name="Ajji Ruchi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Application>PPT_Plus/1.0.0.0$Windows_X86_64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2026-10-02T09:57:58Z</dcterms:created>
  <dc:creator>PptxGenJS</dc:creator>
  <dc:description/>
  <dc:language>en-IN</dc:language>
  <cp:lastModifiedBy/>
  <dcterms:modified xsi:type="dcterms:W3CDTF">2026-10-02T21:11:39Z</dcterms:modified>
  <cp:revision>2</cp:revision>
  <dc:subject>PptxGenJS Presentation</dc:subject>
  <dc:title>Ajji Ruchi - Company introduction and product portfolio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